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Aqua Refill Station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IoT-based Purified Water Refill Service</a:t>
            </a:r>
          </a:p>
          <a:p>
            <a:pPr/>
            <a:r>
              <a:t>Location: Dhaka</a:t>
            </a:r>
          </a:p>
          <a:p>
            <a:pPr/>
            <a:r>
              <a:t>Group: 5 Members</a:t>
            </a:r>
          </a:p>
        </p:txBody>
      </p:sp>
      <p:sp>
        <p:nvSpPr>
          <p:cNvPr id="4" name="Oval 3"/>
          <p:cNvSpPr/>
          <p:nvPr/>
        </p:nvSpPr>
        <p:spPr>
          <a:xfrm>
            <a:off x="8229600" y="182880"/>
            <a:ext cx="411480" cy="4114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Clean drinking water is essential.</a:t>
            </a:r>
          </a:p>
          <a:p>
            <a:pPr/>
            <a:r>
              <a:t>Bottled water is expensive and wasteful.</a:t>
            </a:r>
          </a:p>
          <a:p>
            <a:pPr/>
            <a:r>
              <a:t>We provide a refill-based sustainable solution.</a:t>
            </a:r>
          </a:p>
        </p:txBody>
      </p:sp>
      <p:sp>
        <p:nvSpPr>
          <p:cNvPr id="4" name="Oval 3"/>
          <p:cNvSpPr/>
          <p:nvPr/>
        </p:nvSpPr>
        <p:spPr>
          <a:xfrm>
            <a:off x="8229600" y="182880"/>
            <a:ext cx="411480" cy="4114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High cost of bottled water.</a:t>
            </a:r>
          </a:p>
          <a:p>
            <a:pPr/>
            <a:r>
              <a:t>Plastic waste is increasing.</a:t>
            </a:r>
          </a:p>
          <a:p>
            <a:pPr/>
            <a:r>
              <a:t>Public spaces lack clean water access.</a:t>
            </a:r>
          </a:p>
        </p:txBody>
      </p:sp>
      <p:sp>
        <p:nvSpPr>
          <p:cNvPr id="4" name="Oval 3"/>
          <p:cNvSpPr/>
          <p:nvPr/>
        </p:nvSpPr>
        <p:spPr>
          <a:xfrm>
            <a:off x="8229600" y="182880"/>
            <a:ext cx="411480" cy="4114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Install automated water refill stations.</a:t>
            </a:r>
          </a:p>
          <a:p>
            <a:pPr/>
            <a:r>
              <a:t>Customers refill bottles at low cost.</a:t>
            </a:r>
          </a:p>
          <a:p>
            <a:pPr/>
            <a:r>
              <a:t>IoT monitors water purity in real time.</a:t>
            </a:r>
          </a:p>
        </p:txBody>
      </p:sp>
      <p:sp>
        <p:nvSpPr>
          <p:cNvPr id="4" name="Oval 3"/>
          <p:cNvSpPr/>
          <p:nvPr/>
        </p:nvSpPr>
        <p:spPr>
          <a:xfrm>
            <a:off x="8229600" y="182880"/>
            <a:ext cx="411480" cy="4114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Provide affordable drinking water.</a:t>
            </a:r>
          </a:p>
          <a:p>
            <a:pPr/>
            <a:r>
              <a:t>Reduce plastic waste.</a:t>
            </a:r>
          </a:p>
          <a:p>
            <a:pPr/>
            <a:r>
              <a:t>Ensure public health and environmental sustainability.</a:t>
            </a:r>
          </a:p>
        </p:txBody>
      </p:sp>
      <p:sp>
        <p:nvSpPr>
          <p:cNvPr id="4" name="Oval 3"/>
          <p:cNvSpPr/>
          <p:nvPr/>
        </p:nvSpPr>
        <p:spPr>
          <a:xfrm>
            <a:off x="8229600" y="182880"/>
            <a:ext cx="411480" cy="4114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University students</a:t>
            </a:r>
          </a:p>
          <a:p>
            <a:pPr/>
            <a:r>
              <a:t>Office workers</a:t>
            </a:r>
          </a:p>
          <a:p>
            <a:pPr/>
            <a:r>
              <a:t>Bus/train passengers</a:t>
            </a:r>
          </a:p>
          <a:p>
            <a:pPr/>
            <a:r>
              <a:t>Urban households</a:t>
            </a:r>
          </a:p>
        </p:txBody>
      </p:sp>
      <p:sp>
        <p:nvSpPr>
          <p:cNvPr id="4" name="Oval 3"/>
          <p:cNvSpPr/>
          <p:nvPr/>
        </p:nvSpPr>
        <p:spPr>
          <a:xfrm>
            <a:off x="8229600" y="182880"/>
            <a:ext cx="411480" cy="4114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Affordable refill price</a:t>
            </a:r>
          </a:p>
          <a:p>
            <a:pPr/>
            <a:r>
              <a:t>Eco-friendly approach</a:t>
            </a:r>
          </a:p>
          <a:p>
            <a:pPr/>
            <a:r>
              <a:t>Stable and monitored water purity</a:t>
            </a:r>
          </a:p>
        </p:txBody>
      </p:sp>
      <p:sp>
        <p:nvSpPr>
          <p:cNvPr id="4" name="Oval 3"/>
          <p:cNvSpPr/>
          <p:nvPr/>
        </p:nvSpPr>
        <p:spPr>
          <a:xfrm>
            <a:off x="8229600" y="182880"/>
            <a:ext cx="411480" cy="4114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System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RO + UV purification</a:t>
            </a:r>
          </a:p>
          <a:p>
            <a:pPr/>
            <a:r>
              <a:t>IoT quality monitoring</a:t>
            </a:r>
          </a:p>
          <a:p>
            <a:pPr/>
            <a:r>
              <a:t>Touchless dispensing option</a:t>
            </a:r>
          </a:p>
        </p:txBody>
      </p:sp>
      <p:sp>
        <p:nvSpPr>
          <p:cNvPr id="4" name="Oval 3"/>
          <p:cNvSpPr/>
          <p:nvPr/>
        </p:nvSpPr>
        <p:spPr>
          <a:xfrm>
            <a:off x="8229600" y="182880"/>
            <a:ext cx="411480" cy="4114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RO Filtering System</a:t>
            </a:r>
          </a:p>
          <a:p>
            <a:pPr/>
            <a:r>
              <a:t>UV Purification</a:t>
            </a:r>
          </a:p>
          <a:p>
            <a:pPr/>
            <a:r>
              <a:t>IoT Quality Sensors</a:t>
            </a:r>
          </a:p>
          <a:p>
            <a:pPr/>
            <a:r>
              <a:t>Digital Display</a:t>
            </a:r>
          </a:p>
        </p:txBody>
      </p:sp>
      <p:sp>
        <p:nvSpPr>
          <p:cNvPr id="4" name="Oval 3"/>
          <p:cNvSpPr/>
          <p:nvPr/>
        </p:nvSpPr>
        <p:spPr>
          <a:xfrm>
            <a:off x="8229600" y="182880"/>
            <a:ext cx="411480" cy="4114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High foot-traffic areas:</a:t>
            </a:r>
          </a:p>
          <a:p>
            <a:pPr/>
            <a:r>
              <a:t>Universities, Markets, Bus Stands, Office Zones</a:t>
            </a:r>
          </a:p>
        </p:txBody>
      </p:sp>
      <p:sp>
        <p:nvSpPr>
          <p:cNvPr id="4" name="Oval 3"/>
          <p:cNvSpPr/>
          <p:nvPr/>
        </p:nvSpPr>
        <p:spPr>
          <a:xfrm>
            <a:off x="8229600" y="182880"/>
            <a:ext cx="411480" cy="4114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Water Source: WASA</a:t>
            </a:r>
          </a:p>
          <a:p>
            <a:pPr/>
            <a:r>
              <a:t>Filtration: On-site</a:t>
            </a:r>
          </a:p>
          <a:p>
            <a:pPr/>
            <a:r>
              <a:t>Maintenance every 30–45 days</a:t>
            </a:r>
          </a:p>
        </p:txBody>
      </p:sp>
      <p:sp>
        <p:nvSpPr>
          <p:cNvPr id="4" name="Oval 3"/>
          <p:cNvSpPr/>
          <p:nvPr/>
        </p:nvSpPr>
        <p:spPr>
          <a:xfrm>
            <a:off x="8229600" y="182880"/>
            <a:ext cx="411480" cy="4114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Setup (Per Station)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Purification Unit: ৳18,000</a:t>
            </a:r>
          </a:p>
          <a:p>
            <a:pPr/>
            <a:r>
              <a:t>IoT Sensors: ৳6,000</a:t>
            </a:r>
          </a:p>
          <a:p>
            <a:pPr/>
            <a:r>
              <a:t>Dispensing System: ৳7,000</a:t>
            </a:r>
          </a:p>
          <a:p>
            <a:pPr/>
            <a:r>
              <a:t>Total: ~৳38,000</a:t>
            </a:r>
          </a:p>
        </p:txBody>
      </p:sp>
      <p:sp>
        <p:nvSpPr>
          <p:cNvPr id="4" name="Oval 3"/>
          <p:cNvSpPr/>
          <p:nvPr/>
        </p:nvSpPr>
        <p:spPr>
          <a:xfrm>
            <a:off x="8229600" y="182880"/>
            <a:ext cx="411480" cy="4114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Average Refill Demand: 150 Liters/day</a:t>
            </a:r>
          </a:p>
          <a:p>
            <a:pPr/>
            <a:r>
              <a:t>Price: ৳10 per liter</a:t>
            </a:r>
          </a:p>
          <a:p>
            <a:pPr/>
            <a:r>
              <a:t>Monthly Profit ≈ ৳33,000</a:t>
            </a:r>
          </a:p>
        </p:txBody>
      </p:sp>
      <p:sp>
        <p:nvSpPr>
          <p:cNvPr id="4" name="Oval 3"/>
          <p:cNvSpPr/>
          <p:nvPr/>
        </p:nvSpPr>
        <p:spPr>
          <a:xfrm>
            <a:off x="8229600" y="182880"/>
            <a:ext cx="411480" cy="4114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Breakeven in ~2 months</a:t>
            </a:r>
          </a:p>
          <a:p>
            <a:pPr/>
            <a:r>
              <a:t>High scalability and low running cost</a:t>
            </a:r>
          </a:p>
        </p:txBody>
      </p:sp>
      <p:sp>
        <p:nvSpPr>
          <p:cNvPr id="4" name="Oval 3"/>
          <p:cNvSpPr/>
          <p:nvPr/>
        </p:nvSpPr>
        <p:spPr>
          <a:xfrm>
            <a:off x="8229600" y="182880"/>
            <a:ext cx="411480" cy="4114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Competitor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Lower price than bottled water</a:t>
            </a:r>
          </a:p>
          <a:p>
            <a:pPr/>
            <a:r>
              <a:t>More accessible than distributors</a:t>
            </a:r>
          </a:p>
          <a:p>
            <a:pPr/>
            <a:r>
              <a:t>Eco-friendly advantage</a:t>
            </a:r>
          </a:p>
        </p:txBody>
      </p:sp>
      <p:sp>
        <p:nvSpPr>
          <p:cNvPr id="4" name="Oval 3"/>
          <p:cNvSpPr/>
          <p:nvPr/>
        </p:nvSpPr>
        <p:spPr>
          <a:xfrm>
            <a:off x="8229600" y="182880"/>
            <a:ext cx="411480" cy="4114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Machine damage</a:t>
            </a:r>
          </a:p>
          <a:p>
            <a:pPr/>
            <a:r>
              <a:t>Water contamination</a:t>
            </a:r>
          </a:p>
          <a:p>
            <a:pPr/>
            <a:r>
              <a:t>Awareness gap</a:t>
            </a:r>
          </a:p>
        </p:txBody>
      </p:sp>
      <p:sp>
        <p:nvSpPr>
          <p:cNvPr id="4" name="Oval 3"/>
          <p:cNvSpPr/>
          <p:nvPr/>
        </p:nvSpPr>
        <p:spPr>
          <a:xfrm>
            <a:off x="8229600" y="182880"/>
            <a:ext cx="411480" cy="4114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Regular servicing</a:t>
            </a:r>
          </a:p>
          <a:p>
            <a:pPr/>
            <a:r>
              <a:t>Quality monitoring display</a:t>
            </a:r>
          </a:p>
          <a:p>
            <a:pPr/>
            <a:r>
              <a:t>Marketing campaigns</a:t>
            </a:r>
          </a:p>
        </p:txBody>
      </p:sp>
      <p:sp>
        <p:nvSpPr>
          <p:cNvPr id="4" name="Oval 3"/>
          <p:cNvSpPr/>
          <p:nvPr/>
        </p:nvSpPr>
        <p:spPr>
          <a:xfrm>
            <a:off x="8229600" y="182880"/>
            <a:ext cx="411480" cy="4114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Sustainability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Reduces plastic waste</a:t>
            </a:r>
          </a:p>
          <a:p>
            <a:pPr/>
            <a:r>
              <a:t>Encourages refill culture</a:t>
            </a:r>
          </a:p>
          <a:p>
            <a:pPr/>
            <a:r>
              <a:t>Environmentally responsible</a:t>
            </a:r>
          </a:p>
        </p:txBody>
      </p:sp>
      <p:sp>
        <p:nvSpPr>
          <p:cNvPr id="4" name="Oval 3"/>
          <p:cNvSpPr/>
          <p:nvPr/>
        </p:nvSpPr>
        <p:spPr>
          <a:xfrm>
            <a:off x="8229600" y="182880"/>
            <a:ext cx="411480" cy="4114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App-based refill credits</a:t>
            </a:r>
          </a:p>
          <a:p>
            <a:pPr/>
            <a:r>
              <a:t>School &amp; corporate partnerships</a:t>
            </a:r>
          </a:p>
          <a:p>
            <a:pPr/>
            <a:r>
              <a:t>Mobile refill vans</a:t>
            </a:r>
          </a:p>
        </p:txBody>
      </p:sp>
      <p:sp>
        <p:nvSpPr>
          <p:cNvPr id="4" name="Oval 3"/>
          <p:cNvSpPr/>
          <p:nvPr/>
        </p:nvSpPr>
        <p:spPr>
          <a:xfrm>
            <a:off x="8229600" y="182880"/>
            <a:ext cx="411480" cy="4114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Smart Aqua Refill Station is affordable, scalable, and eco-friendly.</a:t>
            </a:r>
          </a:p>
          <a:p>
            <a:pPr/>
            <a:r>
              <a:t>Strong business and social value.</a:t>
            </a:r>
          </a:p>
        </p:txBody>
      </p:sp>
      <p:sp>
        <p:nvSpPr>
          <p:cNvPr id="4" name="Oval 3"/>
          <p:cNvSpPr/>
          <p:nvPr/>
        </p:nvSpPr>
        <p:spPr>
          <a:xfrm>
            <a:off x="8229600" y="182880"/>
            <a:ext cx="411480" cy="4114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Breakdown Chart</a:t>
            </a:r>
          </a:p>
        </p:txBody>
      </p:sp>
      <p:pic>
        <p:nvPicPr>
          <p:cNvPr id="3" name="Picture 2" descr="cos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229600" y="182880"/>
            <a:ext cx="411480" cy="4114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Projection Chart</a:t>
            </a:r>
          </a:p>
        </p:txBody>
      </p:sp>
      <p:pic>
        <p:nvPicPr>
          <p:cNvPr id="3" name="Picture 2" descr="revenu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229600" y="182880"/>
            <a:ext cx="411480" cy="4114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